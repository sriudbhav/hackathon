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188720"/>
            <a:ext cx="9784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9B4FA"/>
                </a:solidFill>
                <a:latin typeface="Calibri"/>
              </a:defRPr>
            </a:pPr>
            <a:r>
              <a:t>INSTITUTIONAL AI PLATFORM • VIGNAN UNIVERSITY</a:t>
            </a:r>
          </a:p>
          <a:p>
            <a:pPr>
              <a:spcBef>
                <a:spcPts val="800"/>
              </a:spcBef>
              <a:defRPr sz="4400" b="1">
                <a:solidFill>
                  <a:srgbClr val="CDD6F4"/>
                </a:solidFill>
                <a:latin typeface="Calibri"/>
              </a:defRPr>
            </a:pPr>
            <a:r>
              <a:t>EduStudent Sight</a:t>
            </a:r>
          </a:p>
          <a:p>
            <a:pPr>
              <a:spcBef>
                <a:spcPts val="1200"/>
              </a:spcBef>
              <a:defRPr sz="1800">
                <a:solidFill>
                  <a:srgbClr val="B4BEFE"/>
                </a:solidFill>
                <a:latin typeface="Calibri"/>
              </a:defRPr>
            </a:pPr>
            <a:r>
              <a:t>Autonomous Multi-Signal Academic Early-Warning, Telemetry &amp; Intervention Intelligence Platform</a:t>
            </a:r>
          </a:p>
          <a:p>
            <a:pPr>
              <a:spcBef>
                <a:spcPts val="800"/>
              </a:spcBef>
              <a:defRPr sz="1400">
                <a:solidFill>
                  <a:srgbClr val="A6ADC8"/>
                </a:solidFill>
                <a:latin typeface="Calibri"/>
              </a:defRPr>
            </a:pPr>
            <a:r>
              <a:t>Empowering Institutional Leadership, Course Faculty &amp; Mentors with Explainable AI &amp; Closed-Loop Interventions</a:t>
            </a:r>
          </a:p>
          <a:p>
            <a:pPr>
              <a:spcBef>
                <a:spcPts val="3600"/>
              </a:spcBef>
              <a:defRPr sz="1200" b="1">
                <a:solidFill>
                  <a:srgbClr val="A6E3A1"/>
                </a:solidFill>
                <a:latin typeface="Calibri"/>
              </a:defRPr>
            </a:pPr>
            <a:r>
              <a:t>✓ 4-Tier RBAC Architecture   |   ✓ Multi-Model LLM Hub (Gemini, Gemma, Groq)   |   ✓ 100% Explainable Math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9B4FA"/>
                </a:solidFill>
                <a:latin typeface="Calibri"/>
              </a:defRPr>
            </a:pPr>
            <a:r>
              <a:t>EDUSTUDENT SIGHT • AI ACADEMIC INTELLIGENCE</a:t>
            </a:r>
          </a:p>
          <a:p>
            <a:pPr>
              <a:spcBef>
                <a:spcPts val="400"/>
              </a:spcBef>
              <a:defRPr sz="2400" b="1">
                <a:solidFill>
                  <a:srgbClr val="CDD6F4"/>
                </a:solidFill>
                <a:latin typeface="Calibri"/>
              </a:defRPr>
            </a:pPr>
            <a:r>
              <a:t>The Institutional Crisis: Why Academic Early Warnings Fail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05156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8132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38BA8"/>
                </a:solidFill>
                <a:latin typeface="Calibri"/>
              </a:defRPr>
            </a:pPr>
            <a:r>
              <a:t>1. Data Isolation &amp; Silos</a:t>
            </a:r>
          </a:p>
          <a:p>
            <a:pPr>
              <a:spcBef>
                <a:spcPts val="300"/>
              </a:spcBef>
              <a:defRPr sz="1250">
                <a:solidFill>
                  <a:srgbClr val="CDD6F4"/>
                </a:solidFill>
                <a:latin typeface="Calibri"/>
              </a:defRPr>
            </a:pPr>
            <a:r>
              <a:t>Attendance records, Continuous Internal Evaluation (CIE) marks, and LMS access logs exist in disjointed systems with no unified correlation.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10728655" cy="105156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1576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9E2AF"/>
                </a:solidFill>
                <a:latin typeface="Calibri"/>
              </a:defRPr>
            </a:pPr>
            <a:r>
              <a:t>2. Opaque 'Black-Box' Models</a:t>
            </a:r>
          </a:p>
          <a:p>
            <a:pPr>
              <a:spcBef>
                <a:spcPts val="300"/>
              </a:spcBef>
              <a:defRPr sz="1250">
                <a:solidFill>
                  <a:srgbClr val="CDD6F4"/>
                </a:solidFill>
                <a:latin typeface="Calibri"/>
              </a:defRPr>
            </a:pPr>
            <a:r>
              <a:t>Generic AI solutions spit out risk percentages without mathematical explanations, destroying faculty trust and preventing root-cause fixes.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728655" cy="105156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95020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9B4FA"/>
                </a:solidFill>
                <a:latin typeface="Calibri"/>
              </a:defRPr>
            </a:pPr>
            <a:r>
              <a:t>3. Broken Follow-Up Loops</a:t>
            </a:r>
          </a:p>
          <a:p>
            <a:pPr>
              <a:spcBef>
                <a:spcPts val="300"/>
              </a:spcBef>
              <a:defRPr sz="1250">
                <a:solidFill>
                  <a:srgbClr val="CDD6F4"/>
                </a:solidFill>
                <a:latin typeface="Calibri"/>
              </a:defRPr>
            </a:pPr>
            <a:r>
              <a:t>Even when students are flagged, counseling sessions are informal. Commitments are lost and completion sign-offs lack supervisory oversight.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10728655" cy="105156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B4BE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18464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4BEFE"/>
                </a:solidFill>
                <a:latin typeface="Calibri"/>
              </a:defRPr>
            </a:pPr>
            <a:r>
              <a:t>4. Delayed Interventions</a:t>
            </a:r>
          </a:p>
          <a:p>
            <a:pPr>
              <a:spcBef>
                <a:spcPts val="300"/>
              </a:spcBef>
              <a:defRPr sz="1250">
                <a:solidFill>
                  <a:srgbClr val="CDD6F4"/>
                </a:solidFill>
                <a:latin typeface="Calibri"/>
              </a:defRPr>
            </a:pPr>
            <a:r>
              <a:t>At-risk signals are only caught after semester exams when it is too late to remediate low attendance or conceptual bottlenecks.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9B4FA"/>
                </a:solidFill>
                <a:latin typeface="Calibri"/>
              </a:defRPr>
            </a:pPr>
            <a:r>
              <a:t>EDUSTUDENT SIGHT • AI ACADEMIC INTELLIGENCE</a:t>
            </a:r>
          </a:p>
          <a:p>
            <a:pPr>
              <a:spcBef>
                <a:spcPts val="400"/>
              </a:spcBef>
              <a:defRPr sz="2400" b="1">
                <a:solidFill>
                  <a:srgbClr val="CDD6F4"/>
                </a:solidFill>
                <a:latin typeface="Calibri"/>
              </a:defRPr>
            </a:pPr>
            <a:r>
              <a:t>The Solution: Unified Telemetry &amp; Closed-Loop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85232" cy="224028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8280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89B4FA"/>
                </a:solidFill>
                <a:latin typeface="Calibri"/>
              </a:defRPr>
            </a:pPr>
            <a:r>
              <a:t>📊 Multi-Signal Ingestion</a:t>
            </a:r>
          </a:p>
          <a:p>
            <a:pPr>
              <a:spcBef>
                <a:spcPts val="800"/>
              </a:spcBef>
              <a:defRPr sz="1300">
                <a:solidFill>
                  <a:srgbClr val="CDD6F4"/>
                </a:solidFill>
                <a:latin typeface="Calibri"/>
              </a:defRPr>
            </a:pPr>
            <a:r>
              <a:t>Synchronizes attendance %, Continuous Internal Evaluation (CIE), LMS platform footprints, and extracurricular memberships into a unified 360° student vector.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85232" cy="224028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280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6E3A1"/>
                </a:solidFill>
                <a:latin typeface="Calibri"/>
              </a:defRPr>
            </a:pPr>
            <a:r>
              <a:t>📐 Explainable Risk Engine</a:t>
            </a:r>
          </a:p>
          <a:p>
            <a:pPr>
              <a:spcBef>
                <a:spcPts val="800"/>
              </a:spcBef>
              <a:defRPr sz="1300">
                <a:solidFill>
                  <a:srgbClr val="CDD6F4"/>
                </a:solidFill>
                <a:latin typeface="Calibri"/>
              </a:defRPr>
            </a:pPr>
            <a:r>
              <a:t>Deterministic mathematical formula balancing Attendance (40%), Scaled CGPA (35%), and LMS (25%) with fully configurable institutional thresholds.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85232" cy="224028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023360"/>
            <a:ext cx="48280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9E2AF"/>
                </a:solidFill>
                <a:latin typeface="Calibri"/>
              </a:defRPr>
            </a:pPr>
            <a:r>
              <a:t>🤝 Closed-Loop Reviews</a:t>
            </a:r>
          </a:p>
          <a:p>
            <a:pPr>
              <a:spcBef>
                <a:spcPts val="800"/>
              </a:spcBef>
              <a:defRPr sz="1300">
                <a:solidFill>
                  <a:srgbClr val="CDD6F4"/>
                </a:solidFill>
                <a:latin typeface="Calibri"/>
              </a:defRPr>
            </a:pPr>
            <a:r>
              <a:t>Two-party verification where mentors submit session commitments and course instructors or admins conduct structured completion sign-offs.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840480"/>
            <a:ext cx="5285232" cy="224028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B4BE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8280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4BEFE"/>
                </a:solidFill>
                <a:latin typeface="Calibri"/>
              </a:defRPr>
            </a:pPr>
            <a:r>
              <a:t>🤖 Autonomous AI Studio</a:t>
            </a:r>
          </a:p>
          <a:p>
            <a:pPr>
              <a:spcBef>
                <a:spcPts val="800"/>
              </a:spcBef>
              <a:defRPr sz="1300">
                <a:solidFill>
                  <a:srgbClr val="CDD6F4"/>
                </a:solidFill>
                <a:latin typeface="Calibri"/>
              </a:defRPr>
            </a:pPr>
            <a:r>
              <a:t>Multi-LLM engine injected with live cohort telemetry for instant student diagnosis, remedial planning, and statistical trend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9B4FA"/>
                </a:solidFill>
                <a:latin typeface="Calibri"/>
              </a:defRPr>
            </a:pPr>
            <a:r>
              <a:t>EDUSTUDENT SIGHT • AI ACADEMIC INTELLIGENCE</a:t>
            </a:r>
          </a:p>
          <a:p>
            <a:pPr>
              <a:spcBef>
                <a:spcPts val="400"/>
              </a:spcBef>
              <a:defRPr sz="2400" b="1">
                <a:solidFill>
                  <a:srgbClr val="CDD6F4"/>
                </a:solidFill>
                <a:latin typeface="Calibri"/>
              </a:defRPr>
            </a:pPr>
            <a:r>
              <a:t>4-Tier RBAC Architecture: Tailored Institutional Personas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78608" cy="493776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230428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38BA8"/>
                </a:solidFill>
                <a:latin typeface="Calibri"/>
              </a:defRPr>
            </a:pPr>
            <a:r>
              <a:t>🛡️ Administrator</a:t>
            </a:r>
          </a:p>
          <a:p>
            <a:pPr>
              <a:spcBef>
                <a:spcPts val="200"/>
              </a:spcBef>
              <a:defRPr sz="1100">
                <a:solidFill>
                  <a:srgbClr val="A6ADC8"/>
                </a:solidFill>
                <a:latin typeface="Calibri"/>
              </a:defRPr>
            </a:pPr>
            <a:r>
              <a:t>System Admin, Deans, HODs</a:t>
            </a:r>
          </a:p>
          <a:p>
            <a:pPr>
              <a:spcBef>
                <a:spcPts val="1000"/>
              </a:spcBef>
              <a:defRPr sz="1150">
                <a:solidFill>
                  <a:srgbClr val="CDD6F4"/>
                </a:solidFill>
                <a:latin typeface="Calibri"/>
              </a:defRPr>
            </a:pPr>
            <a:r>
              <a:t>• Complete cohort-wide governance</a:t>
            </a:r>
            <a:br/>
            <a:r>
              <a:t>• Faculty signup approvals &amp; decline reasons</a:t>
            </a:r>
            <a:br/>
            <a:r>
              <a:t>• Dynamic risk thresholds &amp; AI key configuration</a:t>
            </a:r>
            <a:br/>
            <a:r>
              <a:t>• CSV &amp; Multi-tab Excel bulk import/export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47288" y="1371600"/>
            <a:ext cx="2578608" cy="493776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84448" y="1508760"/>
            <a:ext cx="230428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9B4FA"/>
                </a:solidFill>
                <a:latin typeface="Calibri"/>
              </a:defRPr>
            </a:pPr>
            <a:r>
              <a:t>🎓 Course Faculty</a:t>
            </a:r>
          </a:p>
          <a:p>
            <a:pPr>
              <a:spcBef>
                <a:spcPts val="200"/>
              </a:spcBef>
              <a:defRPr sz="1100">
                <a:solidFill>
                  <a:srgbClr val="A6ADC8"/>
                </a:solidFill>
                <a:latin typeface="Calibri"/>
              </a:defRPr>
            </a:pPr>
            <a:r>
              <a:t>Subject Instructors, Lab Leads</a:t>
            </a:r>
          </a:p>
          <a:p>
            <a:pPr>
              <a:spcBef>
                <a:spcPts val="1000"/>
              </a:spcBef>
              <a:defRPr sz="1150">
                <a:solidFill>
                  <a:srgbClr val="CDD6F4"/>
                </a:solidFill>
                <a:latin typeface="Calibri"/>
              </a:defRPr>
            </a:pPr>
            <a:r>
              <a:t>• Teaching roster oversight (DBMS, OS, Math)</a:t>
            </a:r>
            <a:br/>
            <a:r>
              <a:t>• Subject Continuous Internal Evaluation (CIE)</a:t>
            </a:r>
            <a:br/>
            <a:r>
              <a:t>• Interventions inception for failing students</a:t>
            </a:r>
            <a:br/>
            <a:r>
              <a:t>• Review &amp; sign-off on mentor completion requests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1371600"/>
            <a:ext cx="2578608" cy="493776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216" y="1508760"/>
            <a:ext cx="230428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6E3A1"/>
                </a:solidFill>
                <a:latin typeface="Calibri"/>
              </a:defRPr>
            </a:pPr>
            <a:r>
              <a:t>🧭 Student Mentor</a:t>
            </a:r>
          </a:p>
          <a:p>
            <a:pPr>
              <a:spcBef>
                <a:spcPts val="200"/>
              </a:spcBef>
              <a:defRPr sz="1100">
                <a:solidFill>
                  <a:srgbClr val="A6ADC8"/>
                </a:solidFill>
                <a:latin typeface="Calibri"/>
              </a:defRPr>
            </a:pPr>
            <a:r>
              <a:t>Assigned Academic Mentors</a:t>
            </a:r>
          </a:p>
          <a:p>
            <a:pPr>
              <a:spcBef>
                <a:spcPts val="1000"/>
              </a:spcBef>
              <a:defRPr sz="1150">
                <a:solidFill>
                  <a:srgbClr val="CDD6F4"/>
                </a:solidFill>
                <a:latin typeface="Calibri"/>
              </a:defRPr>
            </a:pPr>
            <a:r>
              <a:t>• Mentee risk radar &amp; attendance habit monitoring</a:t>
            </a:r>
            <a:br/>
            <a:r>
              <a:t>• 1-on-1 counseling scheduling (Cabin / Meet)</a:t>
            </a:r>
            <a:br/>
            <a:r>
              <a:t>• Submit session outcome commitments</a:t>
            </a:r>
            <a:br/>
            <a:r>
              <a:t>• Address reviewer revision feedback loops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78824" y="1371600"/>
            <a:ext cx="2578608" cy="493776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B4BE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5984" y="1508760"/>
            <a:ext cx="230428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4BEFE"/>
                </a:solidFill>
                <a:latin typeface="Calibri"/>
              </a:defRPr>
            </a:pPr>
            <a:r>
              <a:t>👤 Monitored Student</a:t>
            </a:r>
          </a:p>
          <a:p>
            <a:pPr>
              <a:spcBef>
                <a:spcPts val="200"/>
              </a:spcBef>
              <a:defRPr sz="1100">
                <a:solidFill>
                  <a:srgbClr val="A6ADC8"/>
                </a:solidFill>
                <a:latin typeface="Calibri"/>
              </a:defRPr>
            </a:pPr>
            <a:r>
              <a:t>Enrolled CSE Undergraduates</a:t>
            </a:r>
          </a:p>
          <a:p>
            <a:pPr>
              <a:spcBef>
                <a:spcPts val="1000"/>
              </a:spcBef>
              <a:defRPr sz="1150">
                <a:solidFill>
                  <a:srgbClr val="CDD6F4"/>
                </a:solidFill>
                <a:latin typeface="Calibri"/>
              </a:defRPr>
            </a:pPr>
            <a:r>
              <a:t>• Personal 360° academic telemetry radar</a:t>
            </a:r>
            <a:br/>
            <a:r>
              <a:t>• Per-subject marks, attendance &amp; rank view</a:t>
            </a:r>
            <a:br/>
            <a:r>
              <a:t>• Mentoring action items &amp; historical commitments</a:t>
            </a:r>
            <a:br/>
            <a:r>
              <a:t>• 24/7 AI Academic Assistant Tutor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9B4FA"/>
                </a:solidFill>
                <a:latin typeface="Calibri"/>
              </a:defRPr>
            </a:pPr>
            <a:r>
              <a:t>EDUSTUDENT SIGHT • AI ACADEMIC INTELLIGENCE</a:t>
            </a:r>
          </a:p>
          <a:p>
            <a:pPr>
              <a:spcBef>
                <a:spcPts val="400"/>
              </a:spcBef>
              <a:defRPr sz="2400" b="1">
                <a:solidFill>
                  <a:srgbClr val="CDD6F4"/>
                </a:solidFill>
                <a:latin typeface="Calibri"/>
              </a:defRPr>
            </a:pPr>
            <a:r>
              <a:t>Explainable AI Engine: Transparent Mathematical Formulation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728655" cy="1920240"/>
          </a:xfrm>
          <a:prstGeom prst="roundRect">
            <a:avLst/>
          </a:prstGeom>
          <a:solidFill>
            <a:srgbClr val="313244"/>
          </a:solidFill>
          <a:ln w="12700">
            <a:solidFill>
              <a:srgbClr val="B4BE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101800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9B4FA"/>
                </a:solidFill>
                <a:latin typeface="Calibri"/>
              </a:defRPr>
            </a:pPr>
            <a:r>
              <a:t>MATHEMATICAL ENGAGEMENT &amp; RISK SCORE FORMULATION</a:t>
            </a:r>
          </a:p>
          <a:p>
            <a:pPr>
              <a:spcBef>
                <a:spcPts val="600"/>
              </a:spcBef>
              <a:defRPr sz="1500" b="1">
                <a:solidFill>
                  <a:srgbClr val="CDD6F4"/>
                </a:solidFill>
                <a:latin typeface="Courier New"/>
              </a:defRPr>
            </a:pPr>
            <a:r>
              <a:t>Engagement Index (E) = (Attendance × 0.40) + (CGPA_scaled × 0.35) + (LMS_Score × 0.25)</a:t>
            </a:r>
            <a:br/>
            <a:r>
              <a:t>Risk Score (R) = max( 0, min( 100, 100.0 - Engagement Index ) )</a:t>
            </a:r>
          </a:p>
          <a:p>
            <a:pPr>
              <a:spcBef>
                <a:spcPts val="600"/>
              </a:spcBef>
              <a:defRPr sz="1200">
                <a:solidFill>
                  <a:srgbClr val="A6ADC8"/>
                </a:solidFill>
                <a:latin typeface="Calibri"/>
              </a:defRPr>
            </a:pPr>
            <a:r>
              <a:t>• CGPA_scaled = CGPA × 10.0  |  • Dynamic Cutoffs: Low (≤30%), Moderate (31-59%), High/Critical (≥60%)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29000"/>
            <a:ext cx="5257800" cy="283464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4892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6E3A1"/>
                </a:solidFill>
                <a:latin typeface="Calibri"/>
              </a:defRPr>
            </a:pPr>
            <a:r>
              <a:t>🟢 Nominal Student (25CS001 — V. Sri Udbhav)</a:t>
            </a:r>
          </a:p>
          <a:p>
            <a:pPr>
              <a:spcBef>
                <a:spcPts val="800"/>
              </a:spcBef>
              <a:defRPr sz="1200">
                <a:solidFill>
                  <a:srgbClr val="CDD6F4"/>
                </a:solidFill>
                <a:latin typeface="Calibri"/>
              </a:defRPr>
            </a:pPr>
            <a:r>
              <a:t>• Attendance: 84% (Weight: 40% → 33.6 pts)</a:t>
            </a:r>
            <a:br/>
            <a:r>
              <a:t>• CGPA: 8.40 (Scaled: 84.0 | Weight: 35% → 29.4 pts)</a:t>
            </a:r>
            <a:br/>
            <a:r>
              <a:t>• LMS Score: 88% (Weight: 25% → 22.0 pts)</a:t>
            </a:r>
            <a:br/>
            <a:r>
              <a:t>• Total Engagement (E): 85.0 pts</a:t>
            </a:r>
            <a:br/>
            <a:r>
              <a:t>• Calculated Risk (R): 15.0% [LOW RISK / SAFE]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2375" y="3429000"/>
            <a:ext cx="5257800" cy="283464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566160"/>
            <a:ext cx="4892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38BA8"/>
                </a:solidFill>
                <a:latin typeface="Calibri"/>
              </a:defRPr>
            </a:pPr>
            <a:r>
              <a:t>🔴 Critical Risk Student (25CS005 — Arjun Patel)</a:t>
            </a:r>
          </a:p>
          <a:p>
            <a:pPr>
              <a:spcBef>
                <a:spcPts val="800"/>
              </a:spcBef>
              <a:defRPr sz="1200">
                <a:solidFill>
                  <a:srgbClr val="CDD6F4"/>
                </a:solidFill>
                <a:latin typeface="Calibri"/>
              </a:defRPr>
            </a:pPr>
            <a:r>
              <a:t>• Attendance: 61% (Weight: 40% → 24.4 pts)</a:t>
            </a:r>
            <a:br/>
            <a:r>
              <a:t>• CGPA: 6.80 (Scaled: 68.0 | Weight: 35% → 23.8 pts)</a:t>
            </a:r>
            <a:br/>
            <a:r>
              <a:t>• LMS Score: 50% (Weight: 25% → 12.5 pts)</a:t>
            </a:r>
            <a:br/>
            <a:r>
              <a:t>• Total Engagement (E): 60.7 pts</a:t>
            </a:r>
            <a:br/>
            <a:r>
              <a:t>• Calculated Risk (R): 39.3% [HIGH/CRITICAL WARNING]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9B4FA"/>
                </a:solidFill>
                <a:latin typeface="Calibri"/>
              </a:defRPr>
            </a:pPr>
            <a:r>
              <a:t>EDUSTUDENT SIGHT • AI ACADEMIC INTELLIGENCE</a:t>
            </a:r>
          </a:p>
          <a:p>
            <a:pPr>
              <a:spcBef>
                <a:spcPts val="400"/>
              </a:spcBef>
              <a:defRPr sz="2400" b="1">
                <a:solidFill>
                  <a:srgbClr val="CDD6F4"/>
                </a:solidFill>
                <a:latin typeface="Calibri"/>
              </a:defRPr>
            </a:pPr>
            <a:r>
              <a:t>Closed-Loop Interventions &amp; Two-Party Review Queue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057400" cy="475488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645920"/>
            <a:ext cx="1837943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9B4FA"/>
                </a:solidFill>
                <a:latin typeface="Calibri"/>
              </a:defRPr>
            </a:pPr>
            <a:r>
              <a:t>Step 1: Detection</a:t>
            </a:r>
          </a:p>
          <a:p>
            <a:pPr>
              <a:spcBef>
                <a:spcPts val="1000"/>
              </a:spcBef>
              <a:defRPr sz="1150">
                <a:solidFill>
                  <a:srgbClr val="CDD6F4"/>
                </a:solidFill>
                <a:latin typeface="Calibri"/>
              </a:defRPr>
            </a:pPr>
            <a:r>
              <a:t>Autonomous radar detects attendance slump (&lt;75%) or internal marks drop.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1463040"/>
            <a:ext cx="2057400" cy="475488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B4BE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19" y="1645920"/>
            <a:ext cx="1837943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4BEFE"/>
                </a:solidFill>
                <a:latin typeface="Calibri"/>
              </a:defRPr>
            </a:pPr>
            <a:r>
              <a:t>Step 2: Inception</a:t>
            </a:r>
          </a:p>
          <a:p>
            <a:pPr>
              <a:spcBef>
                <a:spcPts val="1000"/>
              </a:spcBef>
              <a:defRPr sz="1150">
                <a:solidFill>
                  <a:srgbClr val="CDD6F4"/>
                </a:solidFill>
                <a:latin typeface="Calibri"/>
              </a:defRPr>
            </a:pPr>
            <a:r>
              <a:t>Faculty or Mentor schedules 1-on-1 session with specific remedial venue &amp; agenda.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463040"/>
            <a:ext cx="2057400" cy="475488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93792" y="1645920"/>
            <a:ext cx="1837943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9E2AF"/>
                </a:solidFill>
                <a:latin typeface="Calibri"/>
              </a:defRPr>
            </a:pPr>
            <a:r>
              <a:t>Step 3: Counseling</a:t>
            </a:r>
          </a:p>
          <a:p>
            <a:pPr>
              <a:spcBef>
                <a:spcPts val="1000"/>
              </a:spcBef>
              <a:defRPr sz="1150">
                <a:solidFill>
                  <a:srgbClr val="CDD6F4"/>
                </a:solidFill>
                <a:latin typeface="Calibri"/>
              </a:defRPr>
            </a:pPr>
            <a:r>
              <a:t>Session conducted. Student makes concrete commitments and submits missing assignments.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1463040"/>
            <a:ext cx="2057400" cy="475488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0064" y="1645920"/>
            <a:ext cx="1837943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E3A1"/>
                </a:solidFill>
                <a:latin typeface="Calibri"/>
              </a:defRPr>
            </a:pPr>
            <a:r>
              <a:t>Step 4: Completion Req</a:t>
            </a:r>
          </a:p>
          <a:p>
            <a:pPr>
              <a:spcBef>
                <a:spcPts val="1000"/>
              </a:spcBef>
              <a:defRPr sz="1150">
                <a:solidFill>
                  <a:srgbClr val="CDD6F4"/>
                </a:solidFill>
                <a:latin typeface="Calibri"/>
              </a:defRPr>
            </a:pPr>
            <a:r>
              <a:t>Mentor documents session outcome and requests formal sign-off from initiator.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1463040"/>
            <a:ext cx="2057400" cy="475488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46336" y="1645920"/>
            <a:ext cx="1837943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38BA8"/>
                </a:solidFill>
                <a:latin typeface="Calibri"/>
              </a:defRPr>
            </a:pPr>
            <a:r>
              <a:t>Step 5: Review &amp; Audit</a:t>
            </a:r>
          </a:p>
          <a:p>
            <a:pPr>
              <a:spcBef>
                <a:spcPts val="1000"/>
              </a:spcBef>
              <a:defRPr sz="1150">
                <a:solidFill>
                  <a:srgbClr val="CDD6F4"/>
                </a:solidFill>
                <a:latin typeface="Calibri"/>
              </a:defRPr>
            </a:pPr>
            <a:r>
              <a:t>Initiator approves completion OR rejects with specific revision instructions.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9B4FA"/>
                </a:solidFill>
                <a:latin typeface="Calibri"/>
              </a:defRPr>
            </a:pPr>
            <a:r>
              <a:t>EDUSTUDENT SIGHT • AI ACADEMIC INTELLIGENCE</a:t>
            </a:r>
          </a:p>
          <a:p>
            <a:pPr>
              <a:spcBef>
                <a:spcPts val="400"/>
              </a:spcBef>
              <a:defRPr sz="2400" b="1">
                <a:solidFill>
                  <a:srgbClr val="CDD6F4"/>
                </a:solidFill>
                <a:latin typeface="Calibri"/>
              </a:defRPr>
            </a:pPr>
            <a:r>
              <a:t>Autonomous AI Studio: Multi-LLM Routing &amp; Resilience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728655" cy="96012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9B4FA"/>
                </a:solidFill>
                <a:latin typeface="Calibri"/>
              </a:defRPr>
            </a:pPr>
            <a:r>
              <a:t>⚡ Google Gemini 3.5 Flash</a:t>
            </a:r>
          </a:p>
          <a:p>
            <a:pPr>
              <a:spcBef>
                <a:spcPts val="200"/>
              </a:spcBef>
              <a:defRPr sz="1100">
                <a:solidFill>
                  <a:srgbClr val="CDD6F4"/>
                </a:solidFill>
                <a:latin typeface="Calibri"/>
              </a:defRPr>
            </a:pPr>
            <a:r>
              <a:t>Default flagship model delivering sub-second reasoning with live cohort telemetry injection.   [Failover: gemini-3.5-flash-lite, gemini-3.6-flash]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39"/>
            <a:ext cx="10728655" cy="96012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B4BE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79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4BEFE"/>
                </a:solidFill>
                <a:latin typeface="Calibri"/>
              </a:defRPr>
            </a:pPr>
            <a:r>
              <a:t>💎 Google Gemma 4 (31B / MoE)</a:t>
            </a:r>
          </a:p>
          <a:p>
            <a:pPr>
              <a:spcBef>
                <a:spcPts val="200"/>
              </a:spcBef>
              <a:defRPr sz="1100">
                <a:solidFill>
                  <a:srgbClr val="CDD6F4"/>
                </a:solidFill>
                <a:latin typeface="Calibri"/>
              </a:defRPr>
            </a:pPr>
            <a:r>
              <a:t>Google open-weights instruction model executed via standard Gemini API key without extra billing.   [Failover: gemma-4-31b-it, gemma-4-26b-a4b-it]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728655" cy="96012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E3A1"/>
                </a:solidFill>
                <a:latin typeface="Calibri"/>
              </a:defRPr>
            </a:pPr>
            <a:r>
              <a:t>🚀 Groq Cloud LPUs</a:t>
            </a:r>
          </a:p>
          <a:p>
            <a:pPr>
              <a:spcBef>
                <a:spcPts val="200"/>
              </a:spcBef>
              <a:defRPr sz="1100">
                <a:solidFill>
                  <a:srgbClr val="CDD6F4"/>
                </a:solidFill>
                <a:latin typeface="Calibri"/>
              </a:defRPr>
            </a:pPr>
            <a:r>
              <a:t>Ultra-fast inference (500+ tok/s) with custom Cloudflare bypass headers and failover routing.   [Failover: groq/compound, openai/gpt-oss-120b]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59"/>
            <a:ext cx="10728655" cy="96012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71999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9E2AF"/>
                </a:solidFill>
                <a:latin typeface="Calibri"/>
              </a:defRPr>
            </a:pPr>
            <a:r>
              <a:t>🌐 OpenRouter Free Tier</a:t>
            </a:r>
          </a:p>
          <a:p>
            <a:pPr>
              <a:spcBef>
                <a:spcPts val="200"/>
              </a:spcBef>
              <a:defRPr sz="1100">
                <a:solidFill>
                  <a:srgbClr val="CDD6F4"/>
                </a:solidFill>
                <a:latin typeface="Calibri"/>
              </a:defRPr>
            </a:pPr>
            <a:r>
              <a:t>Auto-free smart router dynamically balancing across healthy community model endpoints.   [Failover: liquid/lfm-2.5-2.6b, google/gemma-4-31b-it]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32120"/>
            <a:ext cx="10728655" cy="96012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62356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38BA8"/>
                </a:solidFill>
                <a:latin typeface="Calibri"/>
              </a:defRPr>
            </a:pPr>
            <a:r>
              <a:t>🔒 Local Ollama &amp; GPU Tunnel</a:t>
            </a:r>
          </a:p>
          <a:p>
            <a:pPr>
              <a:spcBef>
                <a:spcPts val="200"/>
              </a:spcBef>
              <a:defRPr sz="1100">
                <a:solidFill>
                  <a:srgbClr val="CDD6F4"/>
                </a:solidFill>
                <a:latin typeface="Calibri"/>
              </a:defRPr>
            </a:pPr>
            <a:r>
              <a:t>100% private local GPU inference supported via ngrok or Cloudflare tunnel URL.   [Failover: qwen2.5:7b, llama3.2, mistral]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9B4FA"/>
                </a:solidFill>
                <a:latin typeface="Calibri"/>
              </a:defRPr>
            </a:pPr>
            <a:r>
              <a:t>EDUSTUDENT SIGHT • AI ACADEMIC INTELLIGENCE</a:t>
            </a:r>
          </a:p>
          <a:p>
            <a:pPr>
              <a:spcBef>
                <a:spcPts val="400"/>
              </a:spcBef>
              <a:defRPr sz="2400" b="1">
                <a:solidFill>
                  <a:srgbClr val="CDD6F4"/>
                </a:solidFill>
                <a:latin typeface="Calibri"/>
              </a:defRPr>
            </a:pPr>
            <a:r>
              <a:t>Production Data Scale &amp; Master Excel Artifacts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56432" cy="224028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90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Calibri"/>
              </a:defRPr>
            </a:pPr>
            <a:r>
              <a:t>100</a:t>
            </a:r>
          </a:p>
          <a:p>
            <a:pPr>
              <a:spcBef>
                <a:spcPts val="200"/>
              </a:spcBef>
              <a:defRPr sz="1500" b="1">
                <a:solidFill>
                  <a:srgbClr val="CDD6F4"/>
                </a:solidFill>
                <a:latin typeface="Calibri"/>
              </a:defRPr>
            </a:pPr>
            <a:r>
              <a:t>Monitored Students</a:t>
            </a:r>
          </a:p>
          <a:p>
            <a:pPr>
              <a:spcBef>
                <a:spcPts val="400"/>
              </a:spcBef>
              <a:defRPr sz="1100">
                <a:solidFill>
                  <a:srgbClr val="A6ADC8"/>
                </a:solidFill>
                <a:latin typeface="Calibri"/>
              </a:defRPr>
            </a:pPr>
            <a:r>
              <a:t>Spanning all 4 risk tiers across 6 engineering branches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1688" y="1371600"/>
            <a:ext cx="3456432" cy="224028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4568" y="1554480"/>
            <a:ext cx="3090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A6E3A1"/>
                </a:solidFill>
                <a:latin typeface="Calibri"/>
              </a:defRPr>
            </a:pPr>
            <a:r>
              <a:t>50</a:t>
            </a:r>
          </a:p>
          <a:p>
            <a:pPr>
              <a:spcBef>
                <a:spcPts val="200"/>
              </a:spcBef>
              <a:defRPr sz="1500" b="1">
                <a:solidFill>
                  <a:srgbClr val="CDD6F4"/>
                </a:solidFill>
                <a:latin typeface="Calibri"/>
              </a:defRPr>
            </a:pPr>
            <a:r>
              <a:t>Faculty &amp; Mentors</a:t>
            </a:r>
          </a:p>
          <a:p>
            <a:pPr>
              <a:spcBef>
                <a:spcPts val="400"/>
              </a:spcBef>
              <a:defRPr sz="1100">
                <a:solidFill>
                  <a:srgbClr val="A6ADC8"/>
                </a:solidFill>
                <a:latin typeface="Calibri"/>
              </a:defRPr>
            </a:pPr>
            <a:r>
              <a:t>30 course faculty + 20 specialized counselors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91856" y="1371600"/>
            <a:ext cx="3456432" cy="224028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74736" y="1554480"/>
            <a:ext cx="3090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38BA8"/>
                </a:solidFill>
                <a:latin typeface="Calibri"/>
              </a:defRPr>
            </a:pPr>
            <a:r>
              <a:t>10</a:t>
            </a:r>
          </a:p>
          <a:p>
            <a:pPr>
              <a:spcBef>
                <a:spcPts val="200"/>
              </a:spcBef>
              <a:defRPr sz="1500" b="1">
                <a:solidFill>
                  <a:srgbClr val="CDD6F4"/>
                </a:solidFill>
                <a:latin typeface="Calibri"/>
              </a:defRPr>
            </a:pPr>
            <a:r>
              <a:t>System Administrators</a:t>
            </a:r>
          </a:p>
          <a:p>
            <a:pPr>
              <a:spcBef>
                <a:spcPts val="400"/>
              </a:spcBef>
              <a:defRPr sz="1100">
                <a:solidFill>
                  <a:srgbClr val="A6ADC8"/>
                </a:solidFill>
                <a:latin typeface="Calibri"/>
              </a:defRPr>
            </a:pPr>
            <a:r>
              <a:t>Dean, HODs, Exam Cell, Student Welfare, IQAC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3456432" cy="224028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3090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9E2AF"/>
                </a:solidFill>
                <a:latin typeface="Calibri"/>
              </a:defRPr>
            </a:pPr>
            <a:r>
              <a:t>500</a:t>
            </a:r>
          </a:p>
          <a:p>
            <a:pPr>
              <a:spcBef>
                <a:spcPts val="200"/>
              </a:spcBef>
              <a:defRPr sz="1500" b="1">
                <a:solidFill>
                  <a:srgbClr val="CDD6F4"/>
                </a:solidFill>
                <a:latin typeface="Calibri"/>
              </a:defRPr>
            </a:pPr>
            <a:r>
              <a:t>Subject Marks</a:t>
            </a:r>
          </a:p>
          <a:p>
            <a:pPr>
              <a:spcBef>
                <a:spcPts val="400"/>
              </a:spcBef>
              <a:defRPr sz="1100">
                <a:solidFill>
                  <a:srgbClr val="A6ADC8"/>
                </a:solidFill>
                <a:latin typeface="Calibri"/>
              </a:defRPr>
            </a:pPr>
            <a:r>
              <a:t>5 core subjects/student with granular CIE &amp; grades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3840480"/>
            <a:ext cx="3456432" cy="224028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B4BE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4023360"/>
            <a:ext cx="3090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B4BEFE"/>
                </a:solidFill>
                <a:latin typeface="Calibri"/>
              </a:defRPr>
            </a:pPr>
            <a:r>
              <a:t>195</a:t>
            </a:r>
          </a:p>
          <a:p>
            <a:pPr>
              <a:spcBef>
                <a:spcPts val="200"/>
              </a:spcBef>
              <a:defRPr sz="1500" b="1">
                <a:solidFill>
                  <a:srgbClr val="CDD6F4"/>
                </a:solidFill>
                <a:latin typeface="Calibri"/>
              </a:defRPr>
            </a:pPr>
            <a:r>
              <a:t>Activity Records</a:t>
            </a:r>
          </a:p>
          <a:p>
            <a:pPr>
              <a:spcBef>
                <a:spcPts val="400"/>
              </a:spcBef>
              <a:defRPr sz="1100">
                <a:solidFill>
                  <a:srgbClr val="A6ADC8"/>
                </a:solidFill>
                <a:latin typeface="Calibri"/>
              </a:defRPr>
            </a:pPr>
            <a:r>
              <a:t>10 clubs (Hackathons, Robotics, Coding, IEEE)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3840480"/>
            <a:ext cx="3456432" cy="224028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4023360"/>
            <a:ext cx="3090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9B4FA"/>
                </a:solidFill>
                <a:latin typeface="Calibri"/>
              </a:defRPr>
            </a:pPr>
            <a:r>
              <a:t>35</a:t>
            </a:r>
          </a:p>
          <a:p>
            <a:pPr>
              <a:spcBef>
                <a:spcPts val="200"/>
              </a:spcBef>
              <a:defRPr sz="1500" b="1">
                <a:solidFill>
                  <a:srgbClr val="CDD6F4"/>
                </a:solidFill>
                <a:latin typeface="Calibri"/>
              </a:defRPr>
            </a:pPr>
            <a:r>
              <a:t>Live Interventions</a:t>
            </a:r>
          </a:p>
          <a:p>
            <a:pPr>
              <a:spcBef>
                <a:spcPts val="400"/>
              </a:spcBef>
              <a:defRPr sz="1100">
                <a:solidFill>
                  <a:srgbClr val="A6ADC8"/>
                </a:solidFill>
                <a:latin typeface="Calibri"/>
              </a:defRPr>
            </a:pPr>
            <a:r>
              <a:t>Completed (15), Enquiries (8), Revisions (5)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9B4FA"/>
                </a:solidFill>
                <a:latin typeface="Calibri"/>
              </a:defRPr>
            </a:pPr>
            <a:r>
              <a:t>EDUSTUDENT SIGHT • AI ACADEMIC INTELLIGENCE</a:t>
            </a:r>
          </a:p>
          <a:p>
            <a:pPr>
              <a:spcBef>
                <a:spcPts val="400"/>
              </a:spcBef>
              <a:defRPr sz="2400" b="1">
                <a:solidFill>
                  <a:srgbClr val="CDD6F4"/>
                </a:solidFill>
                <a:latin typeface="Calibri"/>
              </a:defRPr>
            </a:pPr>
            <a:r>
              <a:t>Dual-Cloud Production Deployment: Netlify + Render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57800" cy="484632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92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9B4FA"/>
                </a:solidFill>
                <a:latin typeface="Calibri"/>
              </a:defRPr>
            </a:pPr>
            <a:r>
              <a:t>🌐 Frontend on Netlify Edge CDN</a:t>
            </a:r>
          </a:p>
          <a:p>
            <a:pPr>
              <a:spcBef>
                <a:spcPts val="1400"/>
              </a:spcBef>
              <a:defRPr sz="1250">
                <a:solidFill>
                  <a:srgbClr val="CDD6F4"/>
                </a:solidFill>
                <a:latin typeface="Calibri"/>
              </a:defRPr>
            </a:pPr>
            <a:r>
              <a:t>• Zero-Build Pure Static Architecture (HTML5 + ES6 Modules)</a:t>
            </a:r>
            <a:br/>
            <a:r>
              <a:t>• Global CDN Edge Caching for sub-50ms page load</a:t>
            </a:r>
            <a:br/>
            <a:r>
              <a:t>• Native _redirects reverse-proxy routes /api/* directly to Render (Eliminating CORS bottlenecks)</a:t>
            </a:r>
            <a:br/>
            <a:r>
              <a:t>• Dual-Mode Config (Auto-detects localhost vs live Render)</a:t>
            </a:r>
            <a:br/>
            <a:r>
              <a:t>• Fully responsive Catppuccin Mocha / Latte theme tokens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2375" y="1371600"/>
            <a:ext cx="5257800" cy="484632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92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6E3A1"/>
                </a:solidFill>
                <a:latin typeface="Calibri"/>
              </a:defRPr>
            </a:pPr>
            <a:r>
              <a:t>⚙️ Backend on Render Web Service</a:t>
            </a:r>
          </a:p>
          <a:p>
            <a:pPr>
              <a:spcBef>
                <a:spcPts val="1400"/>
              </a:spcBef>
              <a:defRPr sz="1250">
                <a:solidFill>
                  <a:srgbClr val="CDD6F4"/>
                </a:solidFill>
                <a:latin typeface="Calibri"/>
              </a:defRPr>
            </a:pPr>
            <a:r>
              <a:t>• Python 3.11 + Flask REST Controller with Gunicorn WSGI</a:t>
            </a:r>
            <a:br/>
            <a:r>
              <a:t>• Automated blueprint provisioning via render.yaml</a:t>
            </a:r>
            <a:br/>
            <a:r>
              <a:t>• Embedded SQLite with auto-healing schema initialization</a:t>
            </a:r>
            <a:br/>
            <a:r>
              <a:t>• Dual-Sync storage: Settings saved in DB and .env in real-time</a:t>
            </a:r>
            <a:br/>
            <a:r>
              <a:t>• Multi-candidate LLM router with automatic failover loops</a:t>
            </a:r>
            <a:br/>
            <a:r>
              <a:t>• 120s extended timeout for complex generative AI reasoning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9B4FA"/>
                </a:solidFill>
                <a:latin typeface="Calibri"/>
              </a:defRPr>
            </a:pPr>
            <a:r>
              <a:t>EDUSTUDENT SIGHT • AI ACADEMIC INTELLIGENCE</a:t>
            </a:r>
          </a:p>
          <a:p>
            <a:pPr>
              <a:spcBef>
                <a:spcPts val="400"/>
              </a:spcBef>
              <a:defRPr sz="2400" b="1">
                <a:solidFill>
                  <a:srgbClr val="CDD6F4"/>
                </a:solidFill>
                <a:latin typeface="Calibri"/>
              </a:defRPr>
            </a:pPr>
            <a:r>
              <a:t>Live Demo Credentials &amp; Evaluation Access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728655" cy="493776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B4BEFE"/>
                </a:solidFill>
                <a:latin typeface="Calibri"/>
              </a:defRPr>
            </a:pPr>
            <a:r>
              <a:t>🛡️ Administrator   |   ID: admin   |   Password: admin123</a:t>
            </a:r>
          </a:p>
          <a:p>
            <a:pPr>
              <a:spcBef>
                <a:spcPts val="200"/>
              </a:spcBef>
              <a:defRPr sz="1100">
                <a:solidFill>
                  <a:srgbClr val="CDD6F4"/>
                </a:solidFill>
                <a:latin typeface="Calibri"/>
              </a:defRPr>
            </a:pPr>
            <a:r>
              <a:t>Scope: Full system governance, AI settings sync, faculty approval queue, CSV/Excel import/export</a:t>
            </a:r>
          </a:p>
          <a:p>
            <a:pPr>
              <a:spcBef>
                <a:spcPts val="1000"/>
              </a:spcBef>
              <a:defRPr sz="1350" b="1">
                <a:solidFill>
                  <a:srgbClr val="B4BEFE"/>
                </a:solidFill>
                <a:latin typeface="Calibri"/>
              </a:defRPr>
            </a:pPr>
            <a:r>
              <a:t>🛡️ Dean Academics   |   ID: ADM001   |   Password: ADM001</a:t>
            </a:r>
          </a:p>
          <a:p>
            <a:pPr>
              <a:spcBef>
                <a:spcPts val="200"/>
              </a:spcBef>
              <a:defRPr sz="1100">
                <a:solidFill>
                  <a:srgbClr val="CDD6F4"/>
                </a:solidFill>
                <a:latin typeface="Calibri"/>
              </a:defRPr>
            </a:pPr>
            <a:r>
              <a:t>Scope: Dr. P. Venkateswarlu — Executive cohort early-warning intelligence &amp; institutional PDF audit reports</a:t>
            </a:r>
          </a:p>
          <a:p>
            <a:pPr>
              <a:spcBef>
                <a:spcPts val="1000"/>
              </a:spcBef>
              <a:defRPr sz="1350" b="1">
                <a:solidFill>
                  <a:srgbClr val="89B4FA"/>
                </a:solidFill>
                <a:latin typeface="Calibri"/>
              </a:defRPr>
            </a:pPr>
            <a:r>
              <a:t>🎓 Course Faculty   |   ID: FAC001   |   Password: FAC001</a:t>
            </a:r>
          </a:p>
          <a:p>
            <a:pPr>
              <a:spcBef>
                <a:spcPts val="200"/>
              </a:spcBef>
              <a:defRPr sz="1100">
                <a:solidFill>
                  <a:srgbClr val="CDD6F4"/>
                </a:solidFill>
                <a:latin typeface="Calibri"/>
              </a:defRPr>
            </a:pPr>
            <a:r>
              <a:t>Scope: Dr. Ramesh Kumar — DBMS &amp; OS course grading, student CIE marks, review mentor completion requests</a:t>
            </a:r>
          </a:p>
          <a:p>
            <a:pPr>
              <a:spcBef>
                <a:spcPts val="1000"/>
              </a:spcBef>
              <a:defRPr sz="1350" b="1">
                <a:solidFill>
                  <a:srgbClr val="A6E3A1"/>
                </a:solidFill>
                <a:latin typeface="Calibri"/>
              </a:defRPr>
            </a:pPr>
            <a:r>
              <a:t>🧭 Senior Mentor   |   ID: MEN001   |   Password: MEN001</a:t>
            </a:r>
          </a:p>
          <a:p>
            <a:pPr>
              <a:spcBef>
                <a:spcPts val="200"/>
              </a:spcBef>
              <a:defRPr sz="1100">
                <a:solidFill>
                  <a:srgbClr val="CDD6F4"/>
                </a:solidFill>
                <a:latin typeface="Calibri"/>
              </a:defRPr>
            </a:pPr>
            <a:r>
              <a:t>Scope: Prof. Sunitha Devi — Mentee risk radar, 1-on-1 counseling scheduling, submit session commitments</a:t>
            </a:r>
          </a:p>
          <a:p>
            <a:pPr>
              <a:spcBef>
                <a:spcPts val="1000"/>
              </a:spcBef>
              <a:defRPr sz="1350" b="1">
                <a:solidFill>
                  <a:srgbClr val="F9E2AF"/>
                </a:solidFill>
                <a:latin typeface="Calibri"/>
              </a:defRPr>
            </a:pPr>
            <a:r>
              <a:t>👤 Nominal Student   |   ID: 25CS001   |   Password: 25CS001</a:t>
            </a:r>
          </a:p>
          <a:p>
            <a:pPr>
              <a:spcBef>
                <a:spcPts val="200"/>
              </a:spcBef>
              <a:defRPr sz="1100">
                <a:solidFill>
                  <a:srgbClr val="CDD6F4"/>
                </a:solidFill>
                <a:latin typeface="Calibri"/>
              </a:defRPr>
            </a:pPr>
            <a:r>
              <a:t>Scope: V. Sri Udbhav — Top performer (CGPA 8.4, Risk 15%), 360° telemetry radar, 24/7 AI tutor assistant</a:t>
            </a:r>
          </a:p>
          <a:p>
            <a:pPr>
              <a:spcBef>
                <a:spcPts val="1000"/>
              </a:spcBef>
              <a:defRPr sz="1350" b="1">
                <a:solidFill>
                  <a:srgbClr val="F9E2AF"/>
                </a:solidFill>
                <a:latin typeface="Calibri"/>
              </a:defRPr>
            </a:pPr>
            <a:r>
              <a:t>⚠️ Critical Student   |   ID: 25CS005   |   Password: 25CS005</a:t>
            </a:r>
          </a:p>
          <a:p>
            <a:pPr>
              <a:spcBef>
                <a:spcPts val="200"/>
              </a:spcBef>
              <a:defRPr sz="1100">
                <a:solidFill>
                  <a:srgbClr val="CDD6F4"/>
                </a:solidFill>
                <a:latin typeface="Calibri"/>
              </a:defRPr>
            </a:pPr>
            <a:r>
              <a:t>Scope: Arjun Patel — Critical risk (CGPA 6.8, Attd 61%, Risk 72%), alert indicators, counseling history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9B4FA"/>
                </a:solidFill>
                <a:latin typeface="Calibri"/>
              </a:defRPr>
            </a:pPr>
            <a:r>
              <a:t>EDUSTUDENT SIGHT • AI ACADEMIC INTELLIGENCE</a:t>
            </a:r>
          </a:p>
          <a:p>
            <a:pPr>
              <a:spcBef>
                <a:spcPts val="400"/>
              </a:spcBef>
              <a:defRPr sz="2400" b="1">
                <a:solidFill>
                  <a:srgbClr val="CDD6F4"/>
                </a:solidFill>
                <a:latin typeface="Calibri"/>
              </a:defRPr>
            </a:pPr>
            <a:r>
              <a:t>Institutional Value Proposition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05156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8132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9B4FA"/>
                </a:solidFill>
                <a:latin typeface="Calibri"/>
              </a:defRPr>
            </a:pPr>
            <a:r>
              <a:t>📈 Measurable Retention Uptick</a:t>
            </a:r>
          </a:p>
          <a:p>
            <a:pPr>
              <a:spcBef>
                <a:spcPts val="300"/>
              </a:spcBef>
              <a:defRPr sz="1250">
                <a:solidFill>
                  <a:srgbClr val="CDD6F4"/>
                </a:solidFill>
                <a:latin typeface="Calibri"/>
              </a:defRPr>
            </a:pPr>
            <a:r>
              <a:t>Reduces semester dropouts by catching attendance and CIE slumps 4 to 6 weeks before mid-term exams.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10728655" cy="105156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1576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6E3A1"/>
                </a:solidFill>
                <a:latin typeface="Calibri"/>
              </a:defRPr>
            </a:pPr>
            <a:r>
              <a:t>📋 NAAC &amp; NBA Accreditation Ready</a:t>
            </a:r>
          </a:p>
          <a:p>
            <a:pPr>
              <a:spcBef>
                <a:spcPts val="300"/>
              </a:spcBef>
              <a:defRPr sz="1250">
                <a:solidFill>
                  <a:srgbClr val="CDD6F4"/>
                </a:solidFill>
                <a:latin typeface="Calibri"/>
              </a:defRPr>
            </a:pPr>
            <a:r>
              <a:t>Automates Outcome-Based Education (OBE) course attainment calculations and maintains auditable intervention trails.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728655" cy="105156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95020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9E2AF"/>
                </a:solidFill>
                <a:latin typeface="Calibri"/>
              </a:defRPr>
            </a:pPr>
            <a:r>
              <a:t>📱 Mobile &amp; WhatsApp Bridge</a:t>
            </a:r>
          </a:p>
          <a:p>
            <a:pPr>
              <a:spcBef>
                <a:spcPts val="300"/>
              </a:spcBef>
              <a:defRPr sz="1250">
                <a:solidFill>
                  <a:srgbClr val="CDD6F4"/>
                </a:solidFill>
                <a:latin typeface="Calibri"/>
              </a:defRPr>
            </a:pPr>
            <a:r>
              <a:t>Roadmap: Automated SMS and WhatsApp progress alerts dispatched to parents upon attendance drops.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10728655" cy="105156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B4BE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18464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4BEFE"/>
                </a:solidFill>
                <a:latin typeface="Calibri"/>
              </a:defRPr>
            </a:pPr>
            <a:r>
              <a:t>🧠 Fine-Tuned Institutional LLM</a:t>
            </a:r>
          </a:p>
          <a:p>
            <a:pPr>
              <a:spcBef>
                <a:spcPts val="300"/>
              </a:spcBef>
              <a:defRPr sz="1250">
                <a:solidFill>
                  <a:srgbClr val="CDD6F4"/>
                </a:solidFill>
                <a:latin typeface="Calibri"/>
              </a:defRPr>
            </a:pPr>
            <a:r>
              <a:t>Roadmap: Training custom on-premise Gemma 4 weights on syllabus questions, previous papers, and academic regulations.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252538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280160"/>
            <a:ext cx="9784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CDD6F4"/>
                </a:solidFill>
                <a:latin typeface="Calibri"/>
              </a:defRPr>
            </a:pPr>
            <a:r>
              <a:t>THANK YOU!</a:t>
            </a:r>
          </a:p>
          <a:p>
            <a:pPr>
              <a:spcBef>
                <a:spcPts val="800"/>
              </a:spcBef>
              <a:defRPr sz="2000">
                <a:solidFill>
                  <a:srgbClr val="89B4FA"/>
                </a:solidFill>
                <a:latin typeface="Calibri"/>
              </a:defRPr>
            </a:pPr>
            <a:r>
              <a:t>EduStudent Sight is Live &amp; Ready for Evaluation</a:t>
            </a:r>
          </a:p>
          <a:p>
            <a:pPr>
              <a:spcBef>
                <a:spcPts val="2000"/>
              </a:spcBef>
              <a:defRPr sz="1400">
                <a:solidFill>
                  <a:srgbClr val="CDD6F4"/>
                </a:solidFill>
                <a:latin typeface="Calibri"/>
              </a:defRPr>
            </a:pPr>
            <a:r>
              <a:t>• Live Presentation Demo: http://127.0.0.1:8080</a:t>
            </a:r>
            <a:br/>
            <a:r>
              <a:t>• Backend API: http://127.0.0.1:5000</a:t>
            </a:r>
            <a:br/>
            <a:r>
              <a:t>• GitHub Repository: https://github.com/SriUdbhav/EduStudentSight</a:t>
            </a:r>
            <a:br/>
            <a:r>
              <a:t>• Master Excel Database: data/EduStudent_Sight_Master_Database.xlsx</a:t>
            </a:r>
          </a:p>
          <a:p>
            <a:pPr>
              <a:spcBef>
                <a:spcPts val="3000"/>
              </a:spcBef>
              <a:defRPr sz="1300" b="1">
                <a:solidFill>
                  <a:srgbClr val="A6ADC8"/>
                </a:solidFill>
                <a:latin typeface="Calibri"/>
              </a:defRPr>
            </a:pPr>
            <a:r>
              <a:t>Vignan University Department of Computer Science &amp; Engineering •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